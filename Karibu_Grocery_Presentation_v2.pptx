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3" d="100"/>
          <a:sy n="63" d="100"/>
        </p:scale>
        <p:origin x="780" y="64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3080" y="431800"/>
            <a:ext cx="5623560" cy="5349240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55080" y="502920"/>
            <a:ext cx="5349240" cy="5349240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F4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1417320" cy="310896"/>
          </a:xfrm>
          <a:prstGeom prst="roundRect">
            <a:avLst/>
          </a:prstGeom>
          <a:solidFill>
            <a:srgbClr val="DDA15E"/>
          </a:solidFill>
          <a:ln w="12700">
            <a:solidFill>
              <a:srgbClr val="DDA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3B2E"/>
                </a:solidFill>
              </a:rPr>
              <a:t>Branch-Aware Retail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Karibu Grocery</a:t>
            </a:r>
            <a:r>
              <a:t/>
            </a:r>
            <a:br/>
            <a:r>
              <a:t>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4480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EE9DE"/>
                </a:solidFill>
                <a:latin typeface="Aptos"/>
              </a:rPr>
              <a:t>A modern operations platform for sales, procurement, accounting, reporting, and secure user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43891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100" b="0" dirty="0">
              <a:solidFill>
                <a:srgbClr val="DEE9DE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66560" y="960120"/>
            <a:ext cx="452628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86600" y="1234440"/>
            <a:ext cx="37490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2442"/>
                </a:solidFill>
                <a:latin typeface="Aptos"/>
              </a:rPr>
              <a:t>Product Snapshot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1828800"/>
            <a:ext cx="1645920" cy="749808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0" y="1965960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194560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687F"/>
                </a:solidFill>
                <a:latin typeface="Aptos"/>
              </a:rPr>
              <a:t>Live module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2788920"/>
            <a:ext cx="1645920" cy="749808"/>
          </a:xfrm>
          <a:prstGeom prst="roundRect">
            <a:avLst/>
          </a:prstGeom>
          <a:solidFill>
            <a:srgbClr val="DEE9DE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2926079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Procurement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154679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687F"/>
                </a:solidFill>
                <a:latin typeface="Aptos"/>
              </a:rPr>
              <a:t>Live module 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3749039"/>
            <a:ext cx="1645920" cy="749808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0" y="3886200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Accounting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114800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687F"/>
                </a:solidFill>
                <a:latin typeface="Aptos"/>
              </a:rPr>
              <a:t>Live module 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828800"/>
            <a:ext cx="1645920" cy="749808"/>
          </a:xfrm>
          <a:prstGeom prst="roundRect">
            <a:avLst/>
          </a:prstGeom>
          <a:solidFill>
            <a:srgbClr val="DEE9DE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1965960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194560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687F"/>
                </a:solidFill>
                <a:latin typeface="Aptos"/>
              </a:rPr>
              <a:t>Live module 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788920"/>
            <a:ext cx="1645920" cy="749808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0" y="2926079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User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154679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687F"/>
                </a:solidFill>
                <a:latin typeface="Aptos"/>
              </a:rPr>
              <a:t>Live module 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539496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87F"/>
                </a:solidFill>
                <a:latin typeface="Aptos"/>
              </a:rPr>
              <a:t>Built for multi-branch retail and distribution teams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20040"/>
            <a:ext cx="11338560" cy="841248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F4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512064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Karibu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0280" y="493776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32442"/>
                </a:solidFill>
                <a:latin typeface="Aptos"/>
              </a:rPr>
              <a:t>The Problem and the Karibu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913384"/>
            <a:ext cx="7132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8687F"/>
                </a:solidFill>
                <a:latin typeface="Aptos"/>
              </a:rPr>
              <a:t>Replacing fragmented manual work with one connected operational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257800" cy="4526280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32442"/>
                </a:solidFill>
                <a:latin typeface="Aptos"/>
              </a:rPr>
              <a:t>Business Pain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32442"/>
                </a:solidFill>
                <a:latin typeface="Aptos"/>
              </a:rPr>
              <a:t>Spreadsheets, paper records, and chat-based coordination create delays and errors.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32442"/>
                </a:solidFill>
                <a:latin typeface="Aptos"/>
              </a:rPr>
              <a:t>Stock visibility becomes weak across teams and branches.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32442"/>
                </a:solidFill>
                <a:latin typeface="Aptos"/>
              </a:rPr>
              <a:t>Reporting is slow, disconnected, and hard to trust.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32442"/>
                </a:solidFill>
                <a:latin typeface="Aptos"/>
              </a:rPr>
              <a:t>Accountability drops when tools and responsibilities are spread across many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5394960" cy="4526280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32442"/>
                </a:solidFill>
                <a:latin typeface="Aptos"/>
              </a:rPr>
              <a:t>How Karibu Solves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32442"/>
                </a:solidFill>
                <a:latin typeface="Aptos"/>
              </a:rPr>
              <a:t>Centralizes sales, procurement, accounting, reporting, and administration.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32442"/>
                </a:solidFill>
                <a:latin typeface="Aptos"/>
              </a:rPr>
              <a:t>Supports branch-aware access with role-based permissions for every team.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32442"/>
                </a:solidFill>
                <a:latin typeface="Aptos"/>
              </a:rPr>
              <a:t>Captures daily transactions in one system for cleaner records and faster decisions.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32442"/>
                </a:solidFill>
                <a:latin typeface="Aptos"/>
              </a:rPr>
              <a:t>Turns the backend into a practical, user-friendly product for real operations.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292607"/>
            <a:ext cx="11338560" cy="841248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F4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512064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Karibu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3968" y="411480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32442"/>
                </a:solidFill>
                <a:latin typeface="Aptos"/>
              </a:rPr>
              <a:t>Platform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758952"/>
            <a:ext cx="7132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87F"/>
                </a:solidFill>
                <a:latin typeface="Aptos"/>
              </a:rPr>
              <a:t>One connected product experience across frontline work and management insight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834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673351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2442"/>
                </a:solidFill>
                <a:latin typeface="Aptos"/>
              </a:rPr>
              <a:t>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39112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87F"/>
                </a:solidFill>
                <a:latin typeface="Aptos"/>
              </a:rPr>
              <a:t>POS-style selling, receipts, payment tracking, and daily reporting.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2807208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Core Module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508760"/>
            <a:ext cx="2834640" cy="1737360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42231" y="1673351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2442"/>
                </a:solidFill>
                <a:latin typeface="Aptos"/>
              </a:rPr>
              <a:t>Procurement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2231" y="2039112"/>
            <a:ext cx="24231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8687F"/>
                </a:solidFill>
                <a:latin typeface="Aptos"/>
              </a:rPr>
              <a:t>Purchases, supplier flows, stock </a:t>
            </a:r>
            <a:r>
              <a:rPr sz="1200" b="0" dirty="0" smtClean="0">
                <a:solidFill>
                  <a:srgbClr val="58687F"/>
                </a:solidFill>
                <a:latin typeface="Aptos"/>
              </a:rPr>
              <a:t>records, </a:t>
            </a:r>
            <a:r>
              <a:rPr sz="1200" b="0" dirty="0">
                <a:solidFill>
                  <a:srgbClr val="58687F"/>
                </a:solidFill>
                <a:latin typeface="Aptos"/>
              </a:rPr>
              <a:t>and balance tracking.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2807208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Core Module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508760"/>
            <a:ext cx="2834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34072" y="1673351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2442"/>
                </a:solidFill>
                <a:latin typeface="Aptos"/>
              </a:rPr>
              <a:t>Accounting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4072" y="2039112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87F"/>
                </a:solidFill>
                <a:latin typeface="Aptos"/>
              </a:rPr>
              <a:t>Expenses, other income, and credit collection management.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807208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Core Module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2834640" cy="1737360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822191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2442"/>
                </a:solidFill>
                <a:latin typeface="Aptos"/>
              </a:rPr>
              <a:t>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187952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87F"/>
                </a:solidFill>
                <a:latin typeface="Aptos"/>
              </a:rPr>
              <a:t>Cross-module reports with export-ready summaries for decision-making.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4956048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Core Module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3657600"/>
            <a:ext cx="2834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42231" y="3822191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2442"/>
                </a:solidFill>
                <a:latin typeface="Aptos"/>
              </a:rPr>
              <a:t>User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2231" y="4187952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87F"/>
                </a:solidFill>
                <a:latin typeface="Aptos"/>
              </a:rPr>
              <a:t>Role-based approvals, branch visibility, and access control.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4956048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Core Module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3657600"/>
            <a:ext cx="2834640" cy="1737360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34072" y="3822191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2442"/>
                </a:solidFill>
                <a:latin typeface="Aptos"/>
              </a:rP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2" y="4187952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87F"/>
                </a:solidFill>
                <a:latin typeface="Aptos"/>
              </a:rPr>
              <a:t>Branch health, sales activity, and stock alert visibility at a glance.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4956048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Core Module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20040"/>
            <a:ext cx="11338560" cy="841248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F4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512064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Karibu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4287" y="370737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32442"/>
                </a:solidFill>
                <a:latin typeface="Aptos"/>
              </a:rPr>
              <a:t>Interface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758952"/>
            <a:ext cx="7132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87F"/>
                </a:solidFill>
                <a:latin typeface="Aptos"/>
              </a:rPr>
              <a:t>A stylized walkthrough based on the shared UI screenshots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743200" cy="1783080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743200" cy="310896"/>
          </a:xfrm>
          <a:prstGeom prst="rect">
            <a:avLst/>
          </a:prstGeom>
          <a:solidFill>
            <a:srgbClr val="F4EBDC"/>
          </a:solidFill>
          <a:ln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627632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05740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517904" y="205740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368296" y="205740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67512" y="2542032"/>
            <a:ext cx="239572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7512" y="2926080"/>
            <a:ext cx="1051560" cy="21945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131721"/>
            <a:ext cx="2772664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dirty="0">
                <a:solidFill>
                  <a:srgbClr val="58687F"/>
                </a:solidFill>
                <a:latin typeface="Aptos"/>
              </a:rPr>
              <a:t>Highlights low stock, today's sales, quick app entry points, and branch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54480"/>
            <a:ext cx="2743200" cy="1783080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86200" y="1554480"/>
            <a:ext cx="2743200" cy="310896"/>
          </a:xfrm>
          <a:prstGeom prst="rect">
            <a:avLst/>
          </a:prstGeom>
          <a:solidFill>
            <a:srgbClr val="DEE9DE"/>
          </a:solidFill>
          <a:ln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32504" y="1627632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Accounting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205740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01183" y="205740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751576" y="205740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050791" y="2542032"/>
            <a:ext cx="239572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050791" y="2926080"/>
            <a:ext cx="1051560" cy="21945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42232" y="1141881"/>
            <a:ext cx="2487168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dirty="0">
                <a:solidFill>
                  <a:srgbClr val="58687F"/>
                </a:solidFill>
                <a:latin typeface="Aptos"/>
              </a:rPr>
              <a:t>Tracks expenses, other income, and credit collection with export support.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1554480"/>
            <a:ext cx="2743200" cy="1783080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69480" y="1554480"/>
            <a:ext cx="2743200" cy="310896"/>
          </a:xfrm>
          <a:prstGeom prst="rect">
            <a:avLst/>
          </a:prstGeom>
          <a:solidFill>
            <a:srgbClr val="F4EBDC"/>
          </a:solidFill>
          <a:ln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15783" y="1627632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Reports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34072" y="205740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284464" y="205740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134856" y="205740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434072" y="2542032"/>
            <a:ext cx="239572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434072" y="2926080"/>
            <a:ext cx="1051560" cy="21945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79564" y="1185672"/>
            <a:ext cx="2923032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dirty="0">
                <a:solidFill>
                  <a:srgbClr val="58687F"/>
                </a:solidFill>
                <a:latin typeface="Aptos"/>
              </a:rPr>
              <a:t>Summarizes inflow, outflow, exposure, and module-level performance in one view.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840480"/>
            <a:ext cx="2743200" cy="1783080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2920" y="3840480"/>
            <a:ext cx="2743200" cy="310896"/>
          </a:xfrm>
          <a:prstGeom prst="rect">
            <a:avLst/>
          </a:prstGeom>
          <a:solidFill>
            <a:srgbClr val="DEE9DE"/>
          </a:solidFill>
          <a:ln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" y="3913632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Procurement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" y="434340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517904" y="434340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368296" y="434340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67512" y="4828032"/>
            <a:ext cx="239572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67512" y="5212080"/>
            <a:ext cx="1051560" cy="21945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6230" y="5672173"/>
            <a:ext cx="2798063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dirty="0">
                <a:solidFill>
                  <a:srgbClr val="58687F"/>
                </a:solidFill>
                <a:latin typeface="Aptos"/>
              </a:rPr>
              <a:t>Supports purchase entry, supplier selection, cost capture, and receipt printing.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86200" y="3840480"/>
            <a:ext cx="2743200" cy="1783080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886200" y="3840480"/>
            <a:ext cx="2743200" cy="310896"/>
          </a:xfrm>
          <a:prstGeom prst="rect">
            <a:avLst/>
          </a:prstGeom>
          <a:solidFill>
            <a:srgbClr val="F4EBDC"/>
          </a:solidFill>
          <a:ln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032504" y="3913632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Suppliers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50791" y="434340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901183" y="434340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751576" y="434340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050791" y="4828032"/>
            <a:ext cx="239572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050791" y="5212080"/>
            <a:ext cx="1051560" cy="21945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922776" y="5678269"/>
            <a:ext cx="2487168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dirty="0">
                <a:solidFill>
                  <a:srgbClr val="58687F"/>
                </a:solidFill>
                <a:latin typeface="Aptos"/>
              </a:rPr>
              <a:t>Maintains supplier contacts, terms, balances, and payment workflow.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69480" y="3840480"/>
            <a:ext cx="2743200" cy="1783080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269480" y="3840480"/>
            <a:ext cx="2743200" cy="310896"/>
          </a:xfrm>
          <a:prstGeom prst="rect">
            <a:avLst/>
          </a:prstGeom>
          <a:solidFill>
            <a:srgbClr val="DEE9DE"/>
          </a:solidFill>
          <a:ln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415783" y="3913632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32442"/>
                </a:solidFill>
                <a:latin typeface="Aptos"/>
              </a:rPr>
              <a:t>User Console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34072" y="434340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8284464" y="434340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9134856" y="4343400"/>
            <a:ext cx="65836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7434072" y="4828032"/>
            <a:ext cx="239572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7434072" y="5212080"/>
            <a:ext cx="1051560" cy="21945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379208" y="5694577"/>
            <a:ext cx="2487168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dirty="0">
                <a:solidFill>
                  <a:srgbClr val="58687F"/>
                </a:solidFill>
                <a:latin typeface="Aptos"/>
              </a:rPr>
              <a:t>Shows approvals, role management, permissions, and branch overview.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20040"/>
            <a:ext cx="11338560" cy="841248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F4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512064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Karibu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0280" y="448056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32442"/>
                </a:solidFill>
                <a:latin typeface="Aptos"/>
              </a:rPr>
              <a:t>Technology and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758952"/>
            <a:ext cx="7132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8687F"/>
                </a:solidFill>
                <a:latin typeface="Aptos"/>
              </a:rPr>
              <a:t>A modern web stack designed for maintainability, scale, and secure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2461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51960" y="1554480"/>
            <a:ext cx="2743200" cy="4297680"/>
          </a:xfrm>
          <a:prstGeom prst="roundRect">
            <a:avLst/>
          </a:prstGeom>
          <a:solidFill>
            <a:srgbClr val="F4EBDC"/>
          </a:solidFill>
          <a:ln w="1905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69480" y="1554480"/>
            <a:ext cx="365760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32442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2606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Vue 3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Vite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Pinia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Vue Router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Tailwind CSS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Axios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Playwright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32442"/>
                </a:solidFill>
                <a:latin typeface="Apto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40280"/>
            <a:ext cx="1965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Node.js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Express.js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MongoDB + Mongoose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JWT auth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bcryptjs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Swagger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32442"/>
                </a:solidFill>
                <a:latin typeface="Aptos"/>
              </a:rPr>
              <a:t>Bruno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8288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32442"/>
                </a:solidFill>
                <a:latin typeface="Aptos"/>
              </a:rPr>
              <a:t>Cloud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24028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32442"/>
                </a:solidFill>
                <a:latin typeface="Aptos"/>
              </a:rPr>
              <a:t>Vercel for frontend deployment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32442"/>
                </a:solidFill>
                <a:latin typeface="Aptos"/>
              </a:rPr>
              <a:t>Render for backend hosting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32442"/>
                </a:solidFill>
                <a:latin typeface="Aptos"/>
              </a:rPr>
              <a:t>MongoDB Atlas for cloud database operations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32442"/>
                </a:solidFill>
                <a:latin typeface="Aptos"/>
              </a:rPr>
              <a:t>Export-ready reporting and centralized branch visibility</a:t>
            </a:r>
          </a:p>
        </p:txBody>
      </p:sp>
      <p:sp>
        <p:nvSpPr>
          <p:cNvPr id="15" name="Chevron 14"/>
          <p:cNvSpPr/>
          <p:nvPr/>
        </p:nvSpPr>
        <p:spPr>
          <a:xfrm>
            <a:off x="3611880" y="2926080"/>
            <a:ext cx="411480" cy="548640"/>
          </a:xfrm>
          <a:prstGeom prst="chevron">
            <a:avLst/>
          </a:prstGeom>
          <a:solidFill>
            <a:srgbClr val="2A5C3D"/>
          </a:solidFill>
          <a:ln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hevron 15"/>
          <p:cNvSpPr/>
          <p:nvPr/>
        </p:nvSpPr>
        <p:spPr>
          <a:xfrm>
            <a:off x="6812280" y="2926080"/>
            <a:ext cx="411480" cy="548640"/>
          </a:xfrm>
          <a:prstGeom prst="chevron">
            <a:avLst/>
          </a:prstGeom>
          <a:solidFill>
            <a:srgbClr val="2A5C3D"/>
          </a:solidFill>
          <a:ln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20040"/>
            <a:ext cx="11338560" cy="841248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F4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512064"/>
            <a:ext cx="1417320" cy="310896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Karibu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0280" y="493776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32442"/>
                </a:solidFill>
                <a:latin typeface="Aptos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818388"/>
            <a:ext cx="7132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87F"/>
                </a:solidFill>
                <a:latin typeface="Aptos"/>
              </a:rPr>
              <a:t>Why this platform matters to growing retail and distribution businesses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3611880"/>
          </a:xfrm>
          <a:prstGeom prst="roundRect">
            <a:avLst/>
          </a:prstGeom>
          <a:solidFill>
            <a:srgbClr val="2A5C3D"/>
          </a:solidFill>
          <a:ln w="12700">
            <a:solidFill>
              <a:srgbClr val="2A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019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Aptos"/>
              </a:rPr>
              <a:t>Key 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DEE9DE"/>
                </a:solidFill>
                <a:latin typeface="Aptos"/>
              </a:rPr>
              <a:t>Multi-branch support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EE9DE"/>
                </a:solidFill>
                <a:latin typeface="Aptos"/>
              </a:rPr>
              <a:t>Role-based access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EE9DE"/>
                </a:solidFill>
                <a:latin typeface="Aptos"/>
              </a:rPr>
              <a:t>Operational frontend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EE9DE"/>
                </a:solidFill>
                <a:latin typeface="Aptos"/>
              </a:rPr>
              <a:t>Transaction-safe workflows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EE9DE"/>
                </a:solidFill>
                <a:latin typeface="Aptos"/>
              </a:rPr>
              <a:t>Clear reporting insight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737360"/>
            <a:ext cx="3246120" cy="1600200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30752" y="1901952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32442"/>
                </a:solidFill>
                <a:latin typeface="Aptos"/>
              </a:rPr>
              <a:t>Faster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2249424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87F"/>
                </a:solidFill>
                <a:latin typeface="Aptos"/>
              </a:rPr>
              <a:t>Management gets live branch-level visibility instead of waiting for manual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737360"/>
            <a:ext cx="3246120" cy="1600200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71231" y="1901952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32442"/>
                </a:solidFill>
                <a:latin typeface="Aptos"/>
              </a:rPr>
              <a:t>Better Accountability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2249424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87F"/>
                </a:solidFill>
                <a:latin typeface="Aptos"/>
              </a:rPr>
              <a:t>Transactions, supplier records, and approvals live in one auditable workflow.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749039"/>
            <a:ext cx="3246120" cy="1600200"/>
          </a:xfrm>
          <a:prstGeom prst="roundRect">
            <a:avLst/>
          </a:prstGeom>
          <a:solidFill>
            <a:srgbClr val="ECF4ED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58185" y="3776472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132442"/>
                </a:solidFill>
                <a:latin typeface="Aptos"/>
              </a:rPr>
              <a:t>Operational 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4261104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87F"/>
                </a:solidFill>
                <a:latin typeface="Aptos"/>
              </a:rPr>
              <a:t>Teams sell, procure, report, and manage users without switching systems.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3749039"/>
            <a:ext cx="3246120" cy="1600200"/>
          </a:xfrm>
          <a:prstGeom prst="roundRect">
            <a:avLst/>
          </a:prstGeom>
          <a:solidFill>
            <a:srgbClr val="F4EBDC"/>
          </a:solidFill>
          <a:ln w="12700">
            <a:solidFill>
              <a:srgbClr val="C1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71231" y="3913631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32442"/>
                </a:solidFill>
                <a:latin typeface="Aptos"/>
              </a:rPr>
              <a:t>Scalable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4261104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87F"/>
                </a:solidFill>
                <a:latin typeface="Aptos"/>
              </a:rPr>
              <a:t>The same platform supports more branches, more users, and cleaner oversight.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5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731520"/>
            <a:ext cx="10789920" cy="5349240"/>
          </a:xfrm>
          <a:prstGeom prst="roundRect">
            <a:avLst/>
          </a:prstGeom>
          <a:solidFill>
            <a:srgbClr val="183B2E"/>
          </a:solidFill>
          <a:ln w="12700">
            <a:solidFill>
              <a:srgbClr val="18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1143000"/>
            <a:ext cx="1417320" cy="310896"/>
          </a:xfrm>
          <a:prstGeom prst="roundRect">
            <a:avLst/>
          </a:prstGeom>
          <a:solidFill>
            <a:srgbClr val="DDA15E"/>
          </a:solidFill>
          <a:ln w="12700">
            <a:solidFill>
              <a:srgbClr val="DDA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3B2E"/>
                </a:solidFill>
              </a:rPr>
              <a:t>Why Karibu Stands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7132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One branch-aware platform for</a:t>
            </a:r>
            <a:r>
              <a:t/>
            </a:r>
            <a:br/>
            <a:r>
              <a:t>sales, stock, finance, reporting, and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7680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EE9DE"/>
                </a:solidFill>
                <a:latin typeface="Aptos"/>
              </a:rPr>
              <a:t>Karibu does more than digitize one process. It creates a complete operational system for both frontline staff and leadership.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74920"/>
            <a:ext cx="30175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DEE9DE"/>
                </a:solidFill>
                <a:latin typeface="Aptos"/>
              </a:rPr>
              <a:t>Prepared for presentation </a:t>
            </a:r>
            <a:r>
              <a:rPr sz="1200" b="0" dirty="0" smtClean="0">
                <a:solidFill>
                  <a:srgbClr val="DEE9DE"/>
                </a:solidFill>
                <a:latin typeface="Aptos"/>
              </a:rPr>
              <a:t>use</a:t>
            </a:r>
            <a:r>
              <a:rPr lang="en-GB" sz="1200" dirty="0">
                <a:solidFill>
                  <a:srgbClr val="DEE9DE"/>
                </a:solidFill>
                <a:latin typeface="Aptos"/>
              </a:rPr>
              <a:t> </a:t>
            </a:r>
            <a:r>
              <a:rPr lang="en-GB" sz="1200" dirty="0" smtClean="0">
                <a:solidFill>
                  <a:srgbClr val="DEE9DE"/>
                </a:solidFill>
                <a:latin typeface="Aptos"/>
              </a:rPr>
              <a:t>by</a:t>
            </a:r>
          </a:p>
          <a:p>
            <a:pPr algn="l"/>
            <a:r>
              <a:rPr lang="en-GB" sz="1200" dirty="0" err="1" smtClean="0">
                <a:solidFill>
                  <a:srgbClr val="DEE9DE"/>
                </a:solidFill>
                <a:latin typeface="Aptos"/>
              </a:rPr>
              <a:t>Rimon</a:t>
            </a:r>
            <a:r>
              <a:rPr lang="en-GB" sz="1200" dirty="0" smtClean="0">
                <a:solidFill>
                  <a:srgbClr val="DEE9DE"/>
                </a:solidFill>
                <a:latin typeface="Aptos"/>
              </a:rPr>
              <a:t> </a:t>
            </a:r>
            <a:r>
              <a:rPr lang="en-GB" sz="1200" dirty="0" err="1" smtClean="0">
                <a:solidFill>
                  <a:srgbClr val="DEE9DE"/>
                </a:solidFill>
                <a:latin typeface="Aptos"/>
              </a:rPr>
              <a:t>Temesgen</a:t>
            </a:r>
            <a:endParaRPr lang="en-GB" sz="1200" b="0" dirty="0" smtClean="0">
              <a:solidFill>
                <a:srgbClr val="DEE9DE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92440" y="1417320"/>
            <a:ext cx="2606040" cy="3337560"/>
          </a:xfrm>
          <a:prstGeom prst="roundRect">
            <a:avLst/>
          </a:prstGeom>
          <a:solidFill>
            <a:srgbClr val="F4EBDC"/>
          </a:solidFill>
          <a:ln>
            <a:solidFill>
              <a:srgbClr val="F4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18288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2442"/>
                </a:solidFill>
                <a:latin typeface="Aptos"/>
              </a:rPr>
              <a:t>Value Proposition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331720"/>
            <a:ext cx="1920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32442"/>
                </a:solidFill>
                <a:latin typeface="Aptos"/>
              </a:rPr>
              <a:t>Karibu helps growing businesses move from fragmented manual operations to a connected, reliable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25196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8687F"/>
                </a:solidFill>
                <a:latin typeface="Aptos"/>
              </a:rPr>
              <a:t>karibu grocery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577</Words>
  <Application>Microsoft Office PowerPoint</Application>
  <PresentationFormat>Widescreen</PresentationFormat>
  <Paragraphs>113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HAVEN</cp:lastModifiedBy>
  <cp:revision>3</cp:revision>
  <dcterms:created xsi:type="dcterms:W3CDTF">2013-01-27T09:14:16Z</dcterms:created>
  <dcterms:modified xsi:type="dcterms:W3CDTF">2026-03-11T05:17:02Z</dcterms:modified>
  <cp:category/>
</cp:coreProperties>
</file>