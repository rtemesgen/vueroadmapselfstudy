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02920"/>
            <a:ext cx="5623560" cy="5349240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55080" y="502920"/>
            <a:ext cx="5349240" cy="5349240"/>
          </a:xfrm>
          <a:prstGeom prst="roundRect">
            <a:avLst/>
          </a:prstGeom>
          <a:solidFill>
            <a:srgbClr val="F4EBDC"/>
          </a:solidFill>
          <a:ln w="12700">
            <a:solidFill>
              <a:srgbClr val="F4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914400"/>
            <a:ext cx="1417320" cy="310896"/>
          </a:xfrm>
          <a:prstGeom prst="roundRect">
            <a:avLst/>
          </a:prstGeom>
          <a:solidFill>
            <a:srgbClr val="DDA15E"/>
          </a:solidFill>
          <a:ln w="12700">
            <a:solidFill>
              <a:srgbClr val="DDA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83B2E"/>
                </a:solidFill>
              </a:rPr>
              <a:t>Branch-Aware Retail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572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Karibu Grocery</a:t>
            </a:r>
            <a:br/>
            <a:r>
              <a:t>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4480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EE9DE"/>
                </a:solidFill>
                <a:latin typeface="Aptos"/>
              </a:rPr>
              <a:t>A modern operations platform for sales, procurement, accounting, reporting, and secure user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834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EE9DE"/>
                </a:solidFill>
                <a:latin typeface="Aptos"/>
              </a:rPr>
              <a:t>Pitch deck generated on March 11,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960120"/>
            <a:ext cx="4526280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1234440"/>
            <a:ext cx="37490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32442"/>
                </a:solidFill>
                <a:latin typeface="Aptos"/>
              </a:rPr>
              <a:t>Product Snapshot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1828800"/>
            <a:ext cx="1645920" cy="749808"/>
          </a:xfrm>
          <a:prstGeom prst="roundRect">
            <a:avLst/>
          </a:prstGeom>
          <a:solidFill>
            <a:srgbClr val="ECF4ED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965960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32442"/>
                </a:solidFill>
                <a:latin typeface="Aptos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194560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687F"/>
                </a:solidFill>
                <a:latin typeface="Aptos"/>
              </a:rPr>
              <a:t>Live module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2788920"/>
            <a:ext cx="1645920" cy="749808"/>
          </a:xfrm>
          <a:prstGeom prst="roundRect">
            <a:avLst/>
          </a:prstGeom>
          <a:solidFill>
            <a:srgbClr val="DEE9DE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2926079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32442"/>
                </a:solidFill>
                <a:latin typeface="Aptos"/>
              </a:rPr>
              <a:t>Procurement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154679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687F"/>
                </a:solidFill>
                <a:latin typeface="Aptos"/>
              </a:rPr>
              <a:t>Live module 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3749039"/>
            <a:ext cx="1645920" cy="749808"/>
          </a:xfrm>
          <a:prstGeom prst="roundRect">
            <a:avLst/>
          </a:prstGeom>
          <a:solidFill>
            <a:srgbClr val="ECF4ED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3886200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32442"/>
                </a:solidFill>
                <a:latin typeface="Aptos"/>
              </a:rPr>
              <a:t>Accounting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114800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687F"/>
                </a:solidFill>
                <a:latin typeface="Aptos"/>
              </a:rPr>
              <a:t>Live module 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828800"/>
            <a:ext cx="1645920" cy="749808"/>
          </a:xfrm>
          <a:prstGeom prst="roundRect">
            <a:avLst/>
          </a:prstGeom>
          <a:solidFill>
            <a:srgbClr val="DEE9DE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965960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32442"/>
                </a:solidFill>
                <a:latin typeface="Aptos"/>
              </a:rPr>
              <a:t>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194560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687F"/>
                </a:solidFill>
                <a:latin typeface="Aptos"/>
              </a:rPr>
              <a:t>Live module 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2788920"/>
            <a:ext cx="1645920" cy="749808"/>
          </a:xfrm>
          <a:prstGeom prst="roundRect">
            <a:avLst/>
          </a:prstGeom>
          <a:solidFill>
            <a:srgbClr val="ECF4ED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2926079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32442"/>
                </a:solidFill>
                <a:latin typeface="Aptos"/>
              </a:rPr>
              <a:t>User 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154679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687F"/>
                </a:solidFill>
                <a:latin typeface="Aptos"/>
              </a:rPr>
              <a:t>Live module 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539496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87F"/>
                </a:solidFill>
                <a:latin typeface="Aptos"/>
              </a:rPr>
              <a:t>Built for multi-branch retail and distribution teams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1338560" cy="841248"/>
          </a:xfrm>
          <a:prstGeom prst="roundRect">
            <a:avLst/>
          </a:prstGeom>
          <a:solidFill>
            <a:srgbClr val="F4EBDC"/>
          </a:solidFill>
          <a:ln w="12700">
            <a:solidFill>
              <a:srgbClr val="F4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12064"/>
            <a:ext cx="1417320" cy="31089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Karibu Grocery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0280" y="493776"/>
            <a:ext cx="5852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32442"/>
                </a:solidFill>
                <a:latin typeface="Aptos"/>
              </a:rPr>
              <a:t>The Problem and the Karibu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758952"/>
            <a:ext cx="7132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87F"/>
                </a:solidFill>
                <a:latin typeface="Aptos"/>
              </a:rPr>
              <a:t>Replacing fragmented manual work with one connected operational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257800" cy="4526280"/>
          </a:xfrm>
          <a:prstGeom prst="roundRect">
            <a:avLst/>
          </a:prstGeom>
          <a:solidFill>
            <a:srgbClr val="F4EBDC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32442"/>
                </a:solidFill>
                <a:latin typeface="Aptos"/>
              </a:rPr>
              <a:t>Business Pain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32442"/>
                </a:solidFill>
                <a:latin typeface="Aptos"/>
              </a:rPr>
              <a:t>Spreadsheets, paper records, and chat-based coordination create delays and errors.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32442"/>
                </a:solidFill>
                <a:latin typeface="Aptos"/>
              </a:rPr>
              <a:t>Stock visibility becomes weak across teams and branches.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32442"/>
                </a:solidFill>
                <a:latin typeface="Aptos"/>
              </a:rPr>
              <a:t>Reporting is slow, disconnected, and hard to trust.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32442"/>
                </a:solidFill>
                <a:latin typeface="Aptos"/>
              </a:rPr>
              <a:t>Accountability drops when tools and responsibilities are spread across many systems.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17320"/>
            <a:ext cx="5394960" cy="4526280"/>
          </a:xfrm>
          <a:prstGeom prst="roundRect">
            <a:avLst/>
          </a:prstGeom>
          <a:solidFill>
            <a:srgbClr val="ECF4ED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32442"/>
                </a:solidFill>
                <a:latin typeface="Aptos"/>
              </a:rPr>
              <a:t>How Karibu Solves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32442"/>
                </a:solidFill>
                <a:latin typeface="Aptos"/>
              </a:rPr>
              <a:t>Centralizes sales, procurement, accounting, reporting, and administration.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32442"/>
                </a:solidFill>
                <a:latin typeface="Aptos"/>
              </a:rPr>
              <a:t>Supports branch-aware access with role-based permissions for every team.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32442"/>
                </a:solidFill>
                <a:latin typeface="Aptos"/>
              </a:rPr>
              <a:t>Captures daily transactions in one system for cleaner records and faster decisions.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32442"/>
                </a:solidFill>
                <a:latin typeface="Aptos"/>
              </a:rPr>
              <a:t>Turns the backend into a practical, user-friendly product for real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1338560" cy="841248"/>
          </a:xfrm>
          <a:prstGeom prst="roundRect">
            <a:avLst/>
          </a:prstGeom>
          <a:solidFill>
            <a:srgbClr val="F4EBDC"/>
          </a:solidFill>
          <a:ln w="12700">
            <a:solidFill>
              <a:srgbClr val="F4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12064"/>
            <a:ext cx="1417320" cy="31089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Karibu Grocery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0280" y="493776"/>
            <a:ext cx="5852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32442"/>
                </a:solidFill>
                <a:latin typeface="Aptos"/>
              </a:rPr>
              <a:t>Platform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758952"/>
            <a:ext cx="7132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87F"/>
                </a:solidFill>
                <a:latin typeface="Aptos"/>
              </a:rPr>
              <a:t>One connected product experience across frontline work and management insight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28346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673351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32442"/>
                </a:solidFill>
                <a:latin typeface="Aptos"/>
              </a:rPr>
              <a:t>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039112"/>
            <a:ext cx="2423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687F"/>
                </a:solidFill>
                <a:latin typeface="Aptos"/>
              </a:rPr>
              <a:t>POS-style selling, receipts, payment tracking, and daily reporting.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2807208"/>
            <a:ext cx="1417320" cy="31089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Core Module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508760"/>
            <a:ext cx="2834640" cy="1737360"/>
          </a:xfrm>
          <a:prstGeom prst="roundRect">
            <a:avLst/>
          </a:prstGeom>
          <a:solidFill>
            <a:srgbClr val="F4EBDC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42231" y="1673351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32442"/>
                </a:solidFill>
                <a:latin typeface="Aptos"/>
              </a:rPr>
              <a:t>Procurement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2231" y="2039112"/>
            <a:ext cx="2423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687F"/>
                </a:solidFill>
                <a:latin typeface="Aptos"/>
              </a:rPr>
              <a:t>Purchases, supplier flows, stock records, adjustments, and balance tracking.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2807208"/>
            <a:ext cx="1417320" cy="31089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Core Module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508760"/>
            <a:ext cx="28346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34072" y="1673351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32442"/>
                </a:solidFill>
                <a:latin typeface="Aptos"/>
              </a:rPr>
              <a:t>Accounting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4072" y="2039112"/>
            <a:ext cx="2423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687F"/>
                </a:solidFill>
                <a:latin typeface="Aptos"/>
              </a:rPr>
              <a:t>Expenses, other income, and credit collection management.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807208"/>
            <a:ext cx="1417320" cy="31089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Core Module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2834640" cy="1737360"/>
          </a:xfrm>
          <a:prstGeom prst="roundRect">
            <a:avLst/>
          </a:prstGeom>
          <a:solidFill>
            <a:srgbClr val="F4EBDC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822191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32442"/>
                </a:solidFill>
                <a:latin typeface="Aptos"/>
              </a:rPr>
              <a:t>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4187952"/>
            <a:ext cx="2423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687F"/>
                </a:solidFill>
                <a:latin typeface="Aptos"/>
              </a:rPr>
              <a:t>Cross-module reports with export-ready summaries for decision-making.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14600" y="4956048"/>
            <a:ext cx="1417320" cy="31089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Core Module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7639" y="3657600"/>
            <a:ext cx="28346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42231" y="3822191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32442"/>
                </a:solidFill>
                <a:latin typeface="Aptos"/>
              </a:rPr>
              <a:t>User 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42231" y="4187952"/>
            <a:ext cx="2423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687F"/>
                </a:solidFill>
                <a:latin typeface="Aptos"/>
              </a:rPr>
              <a:t>Role-based approvals, branch visibility, and access control.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4956048"/>
            <a:ext cx="1417320" cy="31089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Core Module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80" y="3657600"/>
            <a:ext cx="2834640" cy="1737360"/>
          </a:xfrm>
          <a:prstGeom prst="roundRect">
            <a:avLst/>
          </a:prstGeom>
          <a:solidFill>
            <a:srgbClr val="F4EBDC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34072" y="3822191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32442"/>
                </a:solidFill>
                <a:latin typeface="Aptos"/>
              </a:rPr>
              <a:t>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4072" y="4187952"/>
            <a:ext cx="2423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687F"/>
                </a:solidFill>
                <a:latin typeface="Aptos"/>
              </a:rPr>
              <a:t>Branch health, sales activity, and stock alert visibility at a glance.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0" y="4956048"/>
            <a:ext cx="1417320" cy="31089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Core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1338560" cy="841248"/>
          </a:xfrm>
          <a:prstGeom prst="roundRect">
            <a:avLst/>
          </a:prstGeom>
          <a:solidFill>
            <a:srgbClr val="F4EBDC"/>
          </a:solidFill>
          <a:ln w="12700">
            <a:solidFill>
              <a:srgbClr val="F4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12064"/>
            <a:ext cx="1417320" cy="31089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Karibu Grocery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0280" y="493776"/>
            <a:ext cx="5852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32442"/>
                </a:solidFill>
                <a:latin typeface="Aptos"/>
              </a:rPr>
              <a:t>Interface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758952"/>
            <a:ext cx="7132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87F"/>
                </a:solidFill>
                <a:latin typeface="Aptos"/>
              </a:rPr>
              <a:t>A stylized walkthrough based on the shared UI screenshots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2880360" cy="1783080"/>
          </a:xfrm>
          <a:prstGeom prst="roundRect">
            <a:avLst/>
          </a:prstGeom>
          <a:solidFill>
            <a:srgbClr val="ECF4ED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2880360" cy="310896"/>
          </a:xfrm>
          <a:prstGeom prst="rect">
            <a:avLst/>
          </a:prstGeom>
          <a:solidFill>
            <a:srgbClr val="F4EBDC"/>
          </a:solidFill>
          <a:ln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81912"/>
            <a:ext cx="1554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32442"/>
                </a:solidFill>
                <a:latin typeface="Aptos"/>
              </a:rP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" y="201168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55064" y="201168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05456" y="201168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" y="2496312"/>
            <a:ext cx="254203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" y="2880360"/>
            <a:ext cx="1051560" cy="21945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3090672"/>
            <a:ext cx="2560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687F"/>
                </a:solidFill>
                <a:latin typeface="Aptos"/>
              </a:rPr>
              <a:t>Highlights low stock, today's sales, quick app entry points, and branch status.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1508760"/>
            <a:ext cx="2880360" cy="1783080"/>
          </a:xfrm>
          <a:prstGeom prst="roundRect">
            <a:avLst/>
          </a:prstGeom>
          <a:solidFill>
            <a:srgbClr val="ECF4ED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1920" y="1508760"/>
            <a:ext cx="2880360" cy="310896"/>
          </a:xfrm>
          <a:prstGeom prst="rect">
            <a:avLst/>
          </a:prstGeom>
          <a:solidFill>
            <a:srgbClr val="DEE9DE"/>
          </a:solidFill>
          <a:ln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78224" y="1581912"/>
            <a:ext cx="1554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32442"/>
                </a:solidFill>
                <a:latin typeface="Aptos"/>
              </a:rPr>
              <a:t>Accounting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96511" y="201168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46903" y="201168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797296" y="201168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096511" y="2496312"/>
            <a:ext cx="254203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096511" y="2880360"/>
            <a:ext cx="1051560" cy="21945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96511" y="3090672"/>
            <a:ext cx="2560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687F"/>
                </a:solidFill>
                <a:latin typeface="Aptos"/>
              </a:rPr>
              <a:t>Tracks expenses, other income, and credit collection with export support.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1508760"/>
            <a:ext cx="2880360" cy="1783080"/>
          </a:xfrm>
          <a:prstGeom prst="roundRect">
            <a:avLst/>
          </a:prstGeom>
          <a:solidFill>
            <a:srgbClr val="ECF4ED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60" y="1508760"/>
            <a:ext cx="2880360" cy="310896"/>
          </a:xfrm>
          <a:prstGeom prst="rect">
            <a:avLst/>
          </a:prstGeom>
          <a:solidFill>
            <a:srgbClr val="F4EBDC"/>
          </a:solidFill>
          <a:ln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70064" y="1581912"/>
            <a:ext cx="1554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32442"/>
                </a:solidFill>
                <a:latin typeface="Aptos"/>
              </a:rPr>
              <a:t>Reports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88352" y="201168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38744" y="201168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89136" y="201168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88352" y="2496312"/>
            <a:ext cx="254203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88352" y="2880360"/>
            <a:ext cx="1051560" cy="21945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88352" y="3090672"/>
            <a:ext cx="2560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687F"/>
                </a:solidFill>
                <a:latin typeface="Aptos"/>
              </a:rPr>
              <a:t>Summarizes inflow, outflow, exposure, and module-level performance in one view.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3657600"/>
            <a:ext cx="2880360" cy="1783080"/>
          </a:xfrm>
          <a:prstGeom prst="roundRect">
            <a:avLst/>
          </a:prstGeom>
          <a:solidFill>
            <a:srgbClr val="ECF4ED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3657600"/>
            <a:ext cx="2880360" cy="310896"/>
          </a:xfrm>
          <a:prstGeom prst="rect">
            <a:avLst/>
          </a:prstGeom>
          <a:solidFill>
            <a:srgbClr val="DEE9DE"/>
          </a:solidFill>
          <a:ln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3730752"/>
            <a:ext cx="1554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32442"/>
                </a:solidFill>
                <a:latin typeface="Aptos"/>
              </a:rPr>
              <a:t>Procurement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1" y="416052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655064" y="416052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505456" y="416052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04671" y="4645152"/>
            <a:ext cx="254203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4671" y="5029200"/>
            <a:ext cx="1051560" cy="21945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1" y="5239512"/>
            <a:ext cx="2560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687F"/>
                </a:solidFill>
                <a:latin typeface="Aptos"/>
              </a:rPr>
              <a:t>Supports purchase entry, supplier selection, cost capture, and receipt printing.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931920" y="3657600"/>
            <a:ext cx="2880360" cy="1783080"/>
          </a:xfrm>
          <a:prstGeom prst="roundRect">
            <a:avLst/>
          </a:prstGeom>
          <a:solidFill>
            <a:srgbClr val="ECF4ED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931920" y="3657600"/>
            <a:ext cx="2880360" cy="310896"/>
          </a:xfrm>
          <a:prstGeom prst="rect">
            <a:avLst/>
          </a:prstGeom>
          <a:solidFill>
            <a:srgbClr val="F4EBDC"/>
          </a:solidFill>
          <a:ln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78224" y="3730752"/>
            <a:ext cx="1554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32442"/>
                </a:solidFill>
                <a:latin typeface="Aptos"/>
              </a:rPr>
              <a:t>Suppliers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096511" y="416052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946903" y="416052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797296" y="416052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096511" y="4645152"/>
            <a:ext cx="254203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096511" y="5029200"/>
            <a:ext cx="1051560" cy="21945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96511" y="5239512"/>
            <a:ext cx="2560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687F"/>
                </a:solidFill>
                <a:latin typeface="Aptos"/>
              </a:rPr>
              <a:t>Maintains supplier contacts, terms, balances, and payment workflow.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23760" y="3657600"/>
            <a:ext cx="2880360" cy="1783080"/>
          </a:xfrm>
          <a:prstGeom prst="roundRect">
            <a:avLst/>
          </a:prstGeom>
          <a:solidFill>
            <a:srgbClr val="ECF4ED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223760" y="3657600"/>
            <a:ext cx="2880360" cy="310896"/>
          </a:xfrm>
          <a:prstGeom prst="rect">
            <a:avLst/>
          </a:prstGeom>
          <a:solidFill>
            <a:srgbClr val="DEE9DE"/>
          </a:solidFill>
          <a:ln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70064" y="3730752"/>
            <a:ext cx="1554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32442"/>
                </a:solidFill>
                <a:latin typeface="Aptos"/>
              </a:rPr>
              <a:t>User Console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88352" y="416052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238744" y="416052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089136" y="416052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388352" y="4645152"/>
            <a:ext cx="254203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388352" y="5029200"/>
            <a:ext cx="1051560" cy="21945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88352" y="5239512"/>
            <a:ext cx="2560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687F"/>
                </a:solidFill>
                <a:latin typeface="Aptos"/>
              </a:rPr>
              <a:t>Shows approvals, role management, permissions, and branch overview.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1338560" cy="841248"/>
          </a:xfrm>
          <a:prstGeom prst="roundRect">
            <a:avLst/>
          </a:prstGeom>
          <a:solidFill>
            <a:srgbClr val="F4EBDC"/>
          </a:solidFill>
          <a:ln w="12700">
            <a:solidFill>
              <a:srgbClr val="F4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12064"/>
            <a:ext cx="1417320" cy="31089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Karibu Grocery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0280" y="493776"/>
            <a:ext cx="5852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32442"/>
                </a:solidFill>
                <a:latin typeface="Aptos"/>
              </a:rPr>
              <a:t>Technology and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758952"/>
            <a:ext cx="7132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87F"/>
                </a:solidFill>
                <a:latin typeface="Aptos"/>
              </a:rPr>
              <a:t>A modern web stack designed for maintainability, scale, and secure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2461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51960" y="1554480"/>
            <a:ext cx="2743200" cy="4297680"/>
          </a:xfrm>
          <a:prstGeom prst="roundRect">
            <a:avLst/>
          </a:prstGeom>
          <a:solidFill>
            <a:srgbClr val="F4EBDC"/>
          </a:solidFill>
          <a:ln w="1905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69480" y="1554480"/>
            <a:ext cx="365760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32442"/>
                </a:solidFill>
                <a:latin typeface="Aptos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2606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32442"/>
                </a:solidFill>
                <a:latin typeface="Aptos"/>
              </a:rPr>
              <a:t>Vue 3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32442"/>
                </a:solidFill>
                <a:latin typeface="Aptos"/>
              </a:rPr>
              <a:t>Vite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32442"/>
                </a:solidFill>
                <a:latin typeface="Aptos"/>
              </a:rPr>
              <a:t>Pinia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32442"/>
                </a:solidFill>
                <a:latin typeface="Aptos"/>
              </a:rPr>
              <a:t>Vue Router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32442"/>
                </a:solidFill>
                <a:latin typeface="Aptos"/>
              </a:rPr>
              <a:t>Tailwind CSS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32442"/>
                </a:solidFill>
                <a:latin typeface="Aptos"/>
              </a:rPr>
              <a:t>Axios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32442"/>
                </a:solidFill>
                <a:latin typeface="Aptos"/>
              </a:rPr>
              <a:t>Playwright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828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32442"/>
                </a:solidFill>
                <a:latin typeface="Aptos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240280"/>
            <a:ext cx="1965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32442"/>
                </a:solidFill>
                <a:latin typeface="Aptos"/>
              </a:rPr>
              <a:t>Node.js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32442"/>
                </a:solidFill>
                <a:latin typeface="Aptos"/>
              </a:rPr>
              <a:t>Express.js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32442"/>
                </a:solidFill>
                <a:latin typeface="Aptos"/>
              </a:rPr>
              <a:t>MongoDB + Mongoose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32442"/>
                </a:solidFill>
                <a:latin typeface="Aptos"/>
              </a:rPr>
              <a:t>JWT auth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32442"/>
                </a:solidFill>
                <a:latin typeface="Aptos"/>
              </a:rPr>
              <a:t>bcryptjs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32442"/>
                </a:solidFill>
                <a:latin typeface="Aptos"/>
              </a:rPr>
              <a:t>Swagger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32442"/>
                </a:solidFill>
                <a:latin typeface="Aptos"/>
              </a:rPr>
              <a:t>Bruno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18288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32442"/>
                </a:solidFill>
                <a:latin typeface="Aptos"/>
              </a:rPr>
              <a:t>Cloud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24028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32442"/>
                </a:solidFill>
                <a:latin typeface="Aptos"/>
              </a:rPr>
              <a:t>Vercel for frontend deployment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32442"/>
                </a:solidFill>
                <a:latin typeface="Aptos"/>
              </a:rPr>
              <a:t>Render for backend hosting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32442"/>
                </a:solidFill>
                <a:latin typeface="Aptos"/>
              </a:rPr>
              <a:t>MongoDB Atlas for cloud database operations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32442"/>
                </a:solidFill>
                <a:latin typeface="Aptos"/>
              </a:rPr>
              <a:t>Export-ready reporting and centralized branch visibility</a:t>
            </a:r>
          </a:p>
        </p:txBody>
      </p:sp>
      <p:sp>
        <p:nvSpPr>
          <p:cNvPr id="15" name="Chevron 14"/>
          <p:cNvSpPr/>
          <p:nvPr/>
        </p:nvSpPr>
        <p:spPr>
          <a:xfrm>
            <a:off x="3611880" y="2926080"/>
            <a:ext cx="411480" cy="548640"/>
          </a:xfrm>
          <a:prstGeom prst="chevron">
            <a:avLst/>
          </a:prstGeom>
          <a:solidFill>
            <a:srgbClr val="2A5C3D"/>
          </a:solidFill>
          <a:ln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6812280" y="2926080"/>
            <a:ext cx="411480" cy="548640"/>
          </a:xfrm>
          <a:prstGeom prst="chevron">
            <a:avLst/>
          </a:prstGeom>
          <a:solidFill>
            <a:srgbClr val="2A5C3D"/>
          </a:solidFill>
          <a:ln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1338560" cy="841248"/>
          </a:xfrm>
          <a:prstGeom prst="roundRect">
            <a:avLst/>
          </a:prstGeom>
          <a:solidFill>
            <a:srgbClr val="F4EBDC"/>
          </a:solidFill>
          <a:ln w="12700">
            <a:solidFill>
              <a:srgbClr val="F4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12064"/>
            <a:ext cx="1417320" cy="31089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Karibu Grocery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0280" y="493776"/>
            <a:ext cx="5852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32442"/>
                </a:solidFill>
                <a:latin typeface="Aptos"/>
              </a:rPr>
              <a:t>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758952"/>
            <a:ext cx="7132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87F"/>
                </a:solidFill>
                <a:latin typeface="Aptos"/>
              </a:rPr>
              <a:t>Why this platform matters to growing retail and distribution businesses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3611880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Key 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DEE9DE"/>
                </a:solidFill>
                <a:latin typeface="Aptos"/>
              </a:rPr>
              <a:t>Multi-branch support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DEE9DE"/>
                </a:solidFill>
                <a:latin typeface="Aptos"/>
              </a:rPr>
              <a:t>Role-based access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DEE9DE"/>
                </a:solidFill>
                <a:latin typeface="Aptos"/>
              </a:rPr>
              <a:t>Operational frontend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DEE9DE"/>
                </a:solidFill>
                <a:latin typeface="Aptos"/>
              </a:rPr>
              <a:t>Transaction-safe workflows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DEE9DE"/>
                </a:solidFill>
                <a:latin typeface="Aptos"/>
              </a:rPr>
              <a:t>Clear reporting insight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737360"/>
            <a:ext cx="3246120" cy="1600200"/>
          </a:xfrm>
          <a:prstGeom prst="roundRect">
            <a:avLst/>
          </a:prstGeom>
          <a:solidFill>
            <a:srgbClr val="F4EBDC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0752" y="1901952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32442"/>
                </a:solidFill>
                <a:latin typeface="Aptos"/>
              </a:rPr>
              <a:t>Faster 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2249424"/>
            <a:ext cx="2743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87F"/>
                </a:solidFill>
                <a:latin typeface="Aptos"/>
              </a:rPr>
              <a:t>Management gets live branch-level visibility instead of waiting for manual reports.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737360"/>
            <a:ext cx="3246120" cy="1600200"/>
          </a:xfrm>
          <a:prstGeom prst="roundRect">
            <a:avLst/>
          </a:prstGeom>
          <a:solidFill>
            <a:srgbClr val="ECF4ED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1901952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32442"/>
                </a:solidFill>
                <a:latin typeface="Aptos"/>
              </a:rPr>
              <a:t>Better Accountability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1231" y="2249424"/>
            <a:ext cx="2743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87F"/>
                </a:solidFill>
                <a:latin typeface="Aptos"/>
              </a:rPr>
              <a:t>Transactions, supplier records, and approvals live in one auditable workflow.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3749039"/>
            <a:ext cx="3246120" cy="1600200"/>
          </a:xfrm>
          <a:prstGeom prst="roundRect">
            <a:avLst/>
          </a:prstGeom>
          <a:solidFill>
            <a:srgbClr val="ECF4ED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3913631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32442"/>
                </a:solidFill>
                <a:latin typeface="Aptos"/>
              </a:rPr>
              <a:t>Operational Efficiency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4261104"/>
            <a:ext cx="2743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87F"/>
                </a:solidFill>
                <a:latin typeface="Aptos"/>
              </a:rPr>
              <a:t>Teams sell, procure, report, and manage users without switching systems.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3749039"/>
            <a:ext cx="3246120" cy="1600200"/>
          </a:xfrm>
          <a:prstGeom prst="roundRect">
            <a:avLst/>
          </a:prstGeom>
          <a:solidFill>
            <a:srgbClr val="F4EBDC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71231" y="3913631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32442"/>
                </a:solidFill>
                <a:latin typeface="Aptos"/>
              </a:rPr>
              <a:t>Scalable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1" y="4261104"/>
            <a:ext cx="2743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87F"/>
                </a:solidFill>
                <a:latin typeface="Aptos"/>
              </a:rPr>
              <a:t>The same platform supports more branches, more users, and cleaner oversight.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5C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731520"/>
            <a:ext cx="10789920" cy="5349240"/>
          </a:xfrm>
          <a:prstGeom prst="roundRect">
            <a:avLst/>
          </a:prstGeom>
          <a:solidFill>
            <a:srgbClr val="183B2E"/>
          </a:solidFill>
          <a:ln w="12700">
            <a:solidFill>
              <a:srgbClr val="18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143000"/>
            <a:ext cx="1417320" cy="310896"/>
          </a:xfrm>
          <a:prstGeom prst="roundRect">
            <a:avLst/>
          </a:prstGeom>
          <a:solidFill>
            <a:srgbClr val="DDA15E"/>
          </a:solidFill>
          <a:ln w="12700">
            <a:solidFill>
              <a:srgbClr val="DDA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83B2E"/>
                </a:solidFill>
              </a:rPr>
              <a:t>Why Karibu Stands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91640"/>
            <a:ext cx="7132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One branch-aware platform for</a:t>
            </a:r>
            <a:br/>
            <a:r>
              <a:t>sales, stock, finance, reporting, and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7680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EE9DE"/>
                </a:solidFill>
                <a:latin typeface="Aptos"/>
              </a:rPr>
              <a:t>Karibu does more than digitize one process. It creates a complete operational system for both frontline staff and leadership.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749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EE9DE"/>
                </a:solidFill>
                <a:latin typeface="Aptos"/>
              </a:rPr>
              <a:t>Prepared for presentation 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417320"/>
            <a:ext cx="2606040" cy="3337560"/>
          </a:xfrm>
          <a:prstGeom prst="roundRect">
            <a:avLst/>
          </a:prstGeom>
          <a:solidFill>
            <a:srgbClr val="F4EBDC"/>
          </a:solidFill>
          <a:ln>
            <a:solidFill>
              <a:srgbClr val="F4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8288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32442"/>
                </a:solidFill>
                <a:latin typeface="Aptos"/>
              </a:rPr>
              <a:t>Value Proposition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331720"/>
            <a:ext cx="1920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32442"/>
                </a:solidFill>
                <a:latin typeface="Aptos"/>
              </a:rPr>
              <a:t>Karibu helps growing businesses move from fragmented manual operations to a connected, reliable workflow.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425196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8687F"/>
                </a:solidFill>
                <a:latin typeface="Aptos"/>
              </a:rPr>
              <a:t>karibu grocery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